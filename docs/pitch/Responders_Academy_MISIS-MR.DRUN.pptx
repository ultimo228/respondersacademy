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7.xml" ContentType="application/vnd.openxmlformats-officedocument.presentationml.slide+xml"/>
  <Override PartName="/ppt/slides/slide3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  <p:sldId id="268" r:id="rId25"/>
    <p:sldId id="267" r:id="rId26"/>
    <p:sldId id="270" r:id="rId28"/>
    <p:sldId id="376" r:id="rId45"/>
    <p:sldId id="371" r:id="rId17"/>
    <p:sldId id="374" r:id="rId18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8" Type="http://schemas.openxmlformats.org/officeDocument/2006/relationships/slide" Target="slides/slide27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3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Нас пятеро, контакты на слайде. (5 сек)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Историю команды (слайд 10) нужно сверить с реальностью: текст про знакомство придуман как черновик. (15 сек история, 15 сек почему задача, 25 сек вызовы)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Добрый день! Мы команда MISIS&amp;MR.DRUN, проект Responders Academy: тренажёр АРМ-112 для диспетчеров ДДС. (5 сек)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сделали тренажёр, где диспетчер тренируется на копии АРМ-112 в изолированном контуре, а преподаватель видит, где именно группа ошибается. Чем отличаемся от макета: копия интерфейса плюс управление занятием плюс карта ошибок. (25 сек)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Техника: без GPU, без интернета, запуск одной командой. Облачный ИИ по умолчанию выключен; опциональный внешний провайдер включается только переменной окружения и получает лишь синтетические сценарии. Маркетинг: это гипотезы, цифр рынка и эффекта у нас нет. (35 сек)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Q&amp;A с заказчиком от 16.09.2026, это слова заказчика, не наша статистика. Статистики ошибок у нас нет. (30 сек)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Цикл замкнут: настроили, отработали, увидели ошибки группы. Три роли: обучающийся, преподаватель, администратор. Зачем два режима: цепочка 112 → ДДС, карточку оператора подтверждает преподаватель и отправляет диспетчеру. (30 сек)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Покажите вживую или запасным видео (docs/demo.mp4 не записан, записать заранее). Журнал, 30 секунд на первичный статус, цикл статусов, софтфон. Софтфон не по SIP: UI-эмуляция с транскриптами, как согласовано с заказчиком. (35 сек)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Преподаватель видит всё в реальном времени. Карта ошибок: светофор по этапам, ИИ объясняет почему, преподаватель соглашается или нет. Решение за ним. Подписать «демо-данные». (30 сек)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цифры из репозитория: docs/model-report/README.md (точность 83,6 % Q4 на закрытой выборке 110 примеров, ≈4–5 с на ответ на CPU машины разработчика), mocks/cards.json (96 ситуаций). Метрики ИИ подавать как подсказку, а не как оценку. (20 сек)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Нам нужен пилот в УМЦ, чтобы получить данные и методику. Сроков без пилота не обещаем, цифр эффекта у нас нет: говорим «позволяет измерить». (20 сек)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/>
              <a:t>RESPONDERS ACADEMY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0" marL="0">
              <a:buNone/>
            </a:pPr>
            <a:r>
              <a:rPr lang="ru-RU" sz="1800"/>
              <a:t>Тренажёр АРМ-112 для диспетчеров ДДС Москвы</a:t>
            </a:r>
          </a:p>
          <a:p>
            <a:pPr indent="0" marL="0">
              <a:buNone/>
            </a:pPr>
            <a:r>
              <a:rPr lang="ru-RU" sz="1800"/>
              <a:t>Команда MISIS&amp;MR.DRUN  ·  задача № 9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6" y="466961"/>
            <a:ext cx="4754880" cy="72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2971784"/>
          </a:xfrm>
        </p:spPr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46320"/>
            <a:ext cx="4945565" cy="146304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 sz="1300">
                <a:solidFill>
                  <a:schemeClr val="tx1"/>
                </a:solidFill>
              </a:rPr>
              <a:t>Интерфейс 1:1 с боевым АРМ-112</a:t>
            </a:r>
          </a:p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 sz="1300">
                <a:solidFill>
                  <a:schemeClr val="tx1"/>
                </a:solidFill>
              </a:rPr>
              <a:t>ИИ работает локально: без интернета и видеокарты</a:t>
            </a:r>
          </a:p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 sz="1300">
                <a:solidFill>
                  <a:schemeClr val="tx1"/>
                </a:solidFill>
              </a:rPr>
              <a:t>Карта ошибок группы для преподавателя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 sz="1300">
                <a:solidFill>
                  <a:schemeClr val="tx1"/>
                </a:solidFill>
              </a:rPr>
              <a:t>Команда: </a:t>
            </a:r>
            <a:r>
              <a:rPr lang="ru-RU" dirty="0" sz="1300">
                <a:solidFill>
                  <a:schemeClr val="tx1"/>
                </a:solidFill>
              </a:rPr>
              <a:t>MISIS&amp;MR.DRUN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 sz="1300">
                <a:solidFill>
                  <a:schemeClr val="tx1"/>
                </a:solidFill>
              </a:rPr>
              <a:t>Капитан: </a:t>
            </a:r>
            <a:r>
              <a:rPr lang="ru-RU" dirty="0" sz="1300">
                <a:solidFill>
                  <a:schemeClr val="tx1"/>
                </a:solidFill>
              </a:rPr>
              <a:t>Алексеев Всеволод, full stack и AI engineer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 sz="1300">
                <a:solidFill>
                  <a:schemeClr val="tx1"/>
                </a:solidFill>
              </a:rPr>
              <a:t>Участников: </a:t>
            </a:r>
            <a:r>
              <a:rPr lang="ru-RU" dirty="0" sz="1300">
                <a:solidFill>
                  <a:schemeClr val="tx1"/>
                </a:solidFill>
              </a:rPr>
              <a:t>5 человек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 sz="1300">
                <a:solidFill>
                  <a:schemeClr val="tx1"/>
                </a:solidFill>
              </a:rPr>
              <a:t>Кто мы: </a:t>
            </a:r>
            <a:r>
              <a:rPr lang="ru-RU" dirty="0" sz="1300">
                <a:solidFill>
                  <a:schemeClr val="tx1"/>
                </a:solidFill>
              </a:rPr>
              <a:t>активные и амбициозные, собрались по знакомству, работаем на одной волне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 sz="1300">
                <a:solidFill>
                  <a:schemeClr val="tx1"/>
                </a:solidFill>
              </a:rPr>
              <a:t>Учёба: </a:t>
            </a:r>
            <a:r>
              <a:rPr lang="ru-RU" dirty="0" sz="1300">
                <a:solidFill>
                  <a:schemeClr val="tx1"/>
                </a:solidFill>
              </a:rPr>
              <a:t>НИТУ МИСИС, Физтех-лицей им. Капицы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 sz="1300">
                <a:solidFill>
                  <a:schemeClr val="tx1"/>
                </a:solidFill>
              </a:rPr>
              <a:t>Город: </a:t>
            </a:r>
            <a:r>
              <a:rPr lang="ru-RU" dirty="0" sz="1300">
                <a:solidFill>
                  <a:schemeClr val="tx1"/>
                </a:solidFill>
              </a:rPr>
              <a:t>Москва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lang="ru-RU" b="1" sz="2800">
                <a:solidFill>
                  <a:schemeClr val="accent5"/>
                </a:solidFill>
              </a:rPr>
              <a:t>О РЕШЕНИИ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 sz="1300">
                <a:solidFill>
                  <a:schemeClr val="tx1"/>
                </a:solidFill>
              </a:rPr>
              <a:t>Учебный эмулятор АРМ-112: преподаватель настраивает занятие, диспетчер отрабатывает карточки, группа получает отчёт и карту ошибок.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[роль]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[ник]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+7 985 511-39-58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[учёба]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300" dirty="0">
                <a:solidFill>
                  <a:schemeClr val="accent5"/>
                </a:solidFill>
              </a:rPr>
              <a:t>Никита [фамилия]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[роль]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[ник]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[телефон]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[учёба]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300" dirty="0">
                <a:solidFill>
                  <a:schemeClr val="accent5"/>
                </a:solidFill>
              </a:rPr>
              <a:t>[Имя Фамилия]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[роль]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[ник]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[телефон]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[учёба]</a:t>
            </a: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300" dirty="0">
                <a:solidFill>
                  <a:schemeClr val="accent5"/>
                </a:solidFill>
              </a:rPr>
              <a:t>[Имя Фамилия]</a:t>
            </a: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/>
          <p:nvPr/>
        </p:nvSpPr>
        <p:spPr>
          <a:xfrm>
            <a:off x="956734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 txBox="1">
            <a:spLocks/>
          </p:cNvSpPr>
          <p:nvPr/>
        </p:nvSpPr>
        <p:spPr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[роль]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[ник]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[телефон]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[учёба]</a:t>
            </a:r>
          </a:p>
        </p:txBody>
      </p:sp>
      <p:sp>
        <p:nvSpPr>
          <p:cNvPr id="67" name="Текст 8">
            <a:extLst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 txBox="1">
            <a:spLocks/>
          </p:cNvSpPr>
          <p:nvPr/>
        </p:nvSpPr>
        <p:spPr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300" dirty="0">
                <a:solidFill>
                  <a:schemeClr val="accent5"/>
                </a:solidFill>
              </a:rPr>
              <a:t>[Имя Фамилия]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81397" y="1816054"/>
            <a:ext cx="1722566" cy="1552901"/>
          </a:xfrm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886467" y="1826554"/>
            <a:ext cx="1722566" cy="1542401"/>
          </a:xfr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191784" y="1809238"/>
            <a:ext cx="1722567" cy="1559717"/>
          </a:xfr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7520208" y="1809238"/>
            <a:ext cx="1722567" cy="1559717"/>
          </a:xfrm>
        </p:spPr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9802422" y="1809238"/>
            <a:ext cx="1722566" cy="1559717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rPr lang="ru-RU"/>
              <a:t>КОМАНДА MISIS&amp;MR.DRUN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tx1"/>
                </a:solidFill>
              </a:rPr>
              <a:t>Капитан, full stack и AI engineer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tx1"/>
                </a:solidFill>
              </a:rPr>
              <a:t>@Sovochca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tx1"/>
                </a:solidFill>
              </a:rPr>
              <a:t>8 953 012-20-88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tx1"/>
                </a:solidFill>
              </a:rPr>
              <a:t>НИТУ МИСИС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300" dirty="0">
                <a:solidFill>
                  <a:schemeClr val="accent5"/>
                </a:solidFill>
              </a:rPr>
              <a:t>Алексеев Всеволод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667512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rPr lang="ru-RU"/>
              <a:t>ИСТОРИЯ КОМАНДЫ, ЗАДАЧА И ВЫЗОВЫ</a:t>
            </a: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554480"/>
            <a:ext cx="10241280" cy="109728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 sz="1500">
                <a:solidFill>
                  <a:schemeClr val="tx1"/>
                </a:solidFill>
              </a:rPr>
              <a:t>Мы учимся в НИТУ МИСИС и в Физтех-лицее им. Капицы, живём в Москве. Познакомились лично и быстро поняли, что мыслим в одном ритме и хотим делать амбициозные проекты. Собрались, чтобы за хакатон довести идею до работающего прототипа.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4846320"/>
            <a:ext cx="10241280" cy="155448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 sz="1400">
                <a:solidFill>
                  <a:schemeClr val="tx1"/>
                </a:solidFill>
              </a:rPr>
              <a:t>Точная копия АРМ-112 без доступа к боевой системе, по скриншотам и памятке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 sz="1400">
                <a:solidFill>
                  <a:schemeClr val="tx1"/>
                </a:solidFill>
              </a:rPr>
              <a:t>Слабое железо: ИИ только локальный (модель 0,8B, 542 МБ, CPU, без интернета)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 sz="1400">
                <a:solidFill>
                  <a:schemeClr val="tx1"/>
                </a:solidFill>
              </a:rPr>
              <a:t>Один строгий дизайн симулятора: свободы творчества нет, всё как в программе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 sz="1400">
                <a:solidFill>
                  <a:schemeClr val="tx1"/>
                </a:solidFill>
              </a:rPr>
              <a:t>Нет официальной методики оценки: веса задаёт преподаватель, итог за ним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10241280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dirty="0">
                <a:solidFill>
                  <a:schemeClr val="accent5"/>
                </a:solidFill>
              </a:rPr>
              <a:t>Сложности и вызовы: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291840"/>
            <a:ext cx="10241280" cy="109728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 sz="1500">
                <a:solidFill>
                  <a:schemeClr val="tx1"/>
                </a:solidFill>
              </a:rPr>
              <a:t>Задача нишевая: готовых тренажёров АРМ-112 мы в открытых источниках не нашли. Цена ошибки высокая: одна неверная буква в адресе отправляет бригаду не туда. А нам важна точность, а не красивая обёртка.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10241280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accent5"/>
                </a:solidFill>
              </a:rPr>
              <a:t>Почему выбрали эту задачу: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500" dirty="0">
                <a:solidFill>
                  <a:schemeClr val="tx1"/>
                </a:solidFill>
              </a:rPr>
              <a:t>Фронт: Next.js и TypeScript; бэкенд: FastAPI, SQLite</a:t>
            </a:r>
          </a:p>
          <a:p>
            <a:r>
              <a:rPr lang="ru-RU" sz="1500" dirty="0">
                <a:solidFill>
                  <a:schemeClr val="tx1"/>
                </a:solidFill>
              </a:rPr>
              <a:t>ИИ локально: Qwen3.5-0.8B (llama.cpp, CPU, 542 МБ), запасной режим по правилам</a:t>
            </a:r>
          </a:p>
          <a:p>
            <a:r>
              <a:rPr lang="ru-RU" sz="1500" dirty="0">
                <a:solidFill>
                  <a:schemeClr val="tx1"/>
                </a:solidFill>
              </a:rPr>
              <a:t>Справочник ЕКП (1283 записи), оценка по правилам, ИИ только рекомендует</a:t>
            </a:r>
          </a:p>
          <a:p>
            <a:r>
              <a:rPr lang="ru-RU" sz="1500" dirty="0">
                <a:solidFill>
                  <a:schemeClr val="tx1"/>
                </a:solidFill>
              </a:rPr>
              <a:t>Закрытый контур: без внешних API и CDN, синтетические данные</a:t>
            </a:r>
          </a:p>
          <a:p>
            <a:r>
              <a:rPr lang="ru-RU" sz="1500" dirty="0">
                <a:solidFill>
                  <a:schemeClr val="tx1"/>
                </a:solidFill>
              </a:rPr>
              <a:t>Стенд поднимается одной командой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500" dirty="0">
                <a:solidFill>
                  <a:schemeClr val="tx1"/>
                </a:solidFill>
              </a:rPr>
              <a:t>Кому: УМЦ ГО и ЧС, центры Системы-112 и ЕДДС регионов</a:t>
            </a:r>
          </a:p>
          <a:p>
            <a:r>
              <a:rPr lang="ru-RU" sz="1500" dirty="0">
                <a:solidFill>
                  <a:schemeClr val="tx1"/>
                </a:solidFill>
              </a:rPr>
              <a:t>Ценность: безопасная практика до выхода на смену и измеримый разбор ошибок для преподавателя</a:t>
            </a:r>
          </a:p>
          <a:p>
            <a:r>
              <a:rPr lang="ru-RU" sz="1500" dirty="0">
                <a:solidFill>
                  <a:schemeClr val="tx1"/>
                </a:solidFill>
              </a:rPr>
              <a:t>Модель: внедрение в закрытом контуре заказчика, лицензия и поддержка</a:t>
            </a:r>
          </a:p>
          <a:p>
            <a:r>
              <a:rPr lang="ru-RU" sz="1500" dirty="0">
                <a:solidFill>
                  <a:schemeClr val="tx1"/>
                </a:solidFill>
              </a:rPr>
              <a:t>Отличие: интерфейс 1:1, работа офлайн, прозрачный ИИ</a:t>
            </a:r>
          </a:p>
          <a:p>
            <a:r>
              <a:rPr lang="ru-RU" sz="1500" dirty="0">
                <a:solidFill>
                  <a:schemeClr val="tx1"/>
                </a:solidFill>
              </a:rPr>
              <a:t>Спрос и эффект проверим в пилоте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accent5"/>
                </a:solidFill>
              </a:rPr>
              <a:t>Маркетинговая суть (гипотезы)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63093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pPr marL="0" indent="0">
              <a:buNone/>
            </a:pPr>
            <a:r>
              <a:rPr lang="ru-RU" b="1" sz="1800">
                <a:solidFill>
                  <a:schemeClr val="accent5"/>
                </a:solidFill>
              </a:rPr>
              <a:t>96 ситуаций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chemeClr val="tx1"/>
                </a:solidFill>
              </a:rPr>
              <a:t>32 билета из материалов заказчика: эталонные сценарии занятий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pPr marL="0" indent="0">
              <a:buNone/>
            </a:pPr>
            <a:r>
              <a:rPr lang="ru-RU" b="1" sz="1800">
                <a:solidFill>
                  <a:schemeClr val="accent5"/>
                </a:solidFill>
              </a:rPr>
              <a:t>542 МБ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chemeClr val="tx1"/>
                </a:solidFill>
              </a:rPr>
              <a:t>Модель ИИ Qwen3.5-0.8B (Q4): работает на CPU, без видеокарты и интернета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pPr marL="0" indent="0">
              <a:buNone/>
            </a:pPr>
            <a:r>
              <a:rPr lang="ru-RU" b="1" sz="1800">
                <a:solidFill>
                  <a:schemeClr val="accent5"/>
                </a:solidFill>
              </a:rPr>
              <a:t>83,6 %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chemeClr val="tx1"/>
                </a:solidFill>
              </a:rPr>
              <a:t>Точность вердикта модели на 110 примерах; около 1 из 5 ошибок пропускает, поэтому ИИ только советует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pPr marL="0" indent="0">
              <a:buNone/>
            </a:pPr>
            <a:r>
              <a:rPr lang="ru-RU" b="1" sz="1800">
                <a:solidFill>
                  <a:schemeClr val="accent5"/>
                </a:solidFill>
              </a:rPr>
              <a:t>30 с / 3 мин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chemeClr val="tx1"/>
                </a:solidFill>
              </a:rPr>
              <a:t>Нормативы реакции и полной отработки: контролируются таймерами симулятора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ЦИФРЫ, КОТОРЫЕ МОЖНО ПРОВЕРИТЬ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accent1"/>
                </a:solidFill>
              </a:rPr>
              <a:t>01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accent1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accent1"/>
                </a:solidFill>
              </a:rPr>
              <a:t>03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accent1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pPr marL="0" indent="0">
              <a:buNone/>
            </a:pPr>
            <a:r>
              <a:rPr lang="ru-RU" b="1" sz="1800">
                <a:solidFill>
                  <a:schemeClr val="accent5"/>
                </a:solidFill>
              </a:rPr>
              <a:t>Пилот в УМЦ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/>
          <a:lstStyle/>
          <a:p>
            <a:pPr marL="0" indent="0">
              <a:buNone/>
            </a:pPr>
            <a:r>
              <a:rPr lang="ru-RU" sz="1600">
                <a:solidFill>
                  <a:schemeClr val="tx1"/>
                </a:solidFill>
              </a:rPr>
              <a:t>2–3 преподавателя, замер времени реакции и доли пропущенных пунктов карточки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/>
          <a:lstStyle/>
          <a:p>
            <a:pPr marL="0" indent="0">
              <a:buNone/>
            </a:pPr>
            <a:r>
              <a:rPr lang="ru-RU" b="1" sz="1800">
                <a:solidFill>
                  <a:schemeClr val="accent5"/>
                </a:solidFill>
              </a:rPr>
              <a:t>Методика оценки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/>
          <a:lstStyle/>
          <a:p>
            <a:pPr marL="0" indent="0">
              <a:buNone/>
            </a:pPr>
            <a:r>
              <a:rPr lang="ru-RU" sz="1600">
                <a:solidFill>
                  <a:schemeClr val="tx1"/>
                </a:solidFill>
              </a:rPr>
              <a:t>Подключить официальные методики и веса, согласовать их с заказчиком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pPr marL="0" indent="0">
              <a:buNone/>
            </a:pPr>
            <a:r>
              <a:rPr lang="ru-RU" b="1" sz="1800">
                <a:solidFill>
                  <a:schemeClr val="accent5"/>
                </a:solidFill>
              </a:rPr>
              <a:t>Дообучение ИИ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/>
          <a:lstStyle/>
          <a:p>
            <a:pPr marL="0" indent="0">
              <a:buNone/>
            </a:pPr>
            <a:r>
              <a:rPr lang="ru-RU" sz="1600">
                <a:solidFill>
                  <a:schemeClr val="tx1"/>
                </a:solidFill>
              </a:rPr>
              <a:t>Улучшать модель на разметке преподавателей, проверять качество на реальных занятиях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r>
              <a:rPr lang="ru-RU" b="1" sz="2400">
                <a:solidFill>
                  <a:schemeClr val="accent5"/>
                </a:solidFill>
              </a:rPr>
              <a:t>ПЛАНЫ РАЗВИТИЯ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accent1"/>
                </a:solidFill>
              </a:rPr>
              <a:t>01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accent1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accent1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 sz="1800">
                <a:solidFill>
                  <a:schemeClr val="tx1"/>
                </a:solidFill>
              </a:rPr>
              <a:t>30 секунд и 3 минуты</a:t>
            </a:r>
          </a:p>
          <a:p>
            <a:pPr marL="0" indent="0">
              <a:buNone/>
            </a:pPr>
            <a:r>
              <a:rPr lang="ru-RU" sz="1800">
                <a:solidFill>
                  <a:schemeClr val="tx1"/>
                </a:solidFill>
              </a:rPr>
              <a:t>Диспетчер должен среагировать на новую карточку за 30 секунд и отработать её за 3 минуты (норматив).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 sz="1800">
                <a:solidFill>
                  <a:schemeClr val="tx1"/>
                </a:solidFill>
              </a:rPr>
              <a:t>Учиться негде</a:t>
            </a:r>
          </a:p>
          <a:p>
            <a:pPr marL="0" indent="0">
              <a:buNone/>
            </a:pPr>
            <a:r>
              <a:rPr lang="ru-RU" sz="1800">
                <a:solidFill>
                  <a:schemeClr val="tx1"/>
                </a:solidFill>
              </a:rPr>
              <a:t>Практика идёт на действующей системе. Одна буква в адресе («Дубнинская» вместо «Дубининская») отправляет бригаду не туда.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 sz="1800">
                <a:solidFill>
                  <a:schemeClr val="tx1"/>
                </a:solidFill>
              </a:rPr>
              <a:t>Нет общей картины</a:t>
            </a:r>
          </a:p>
          <a:p>
            <a:pPr marL="0" indent="0">
              <a:buNone/>
            </a:pPr>
            <a:r>
              <a:rPr lang="ru-RU" sz="1800">
                <a:solidFill>
                  <a:schemeClr val="tx1"/>
                </a:solidFill>
              </a:rPr>
              <a:t>У преподавателя нет единого рабочего места: вводные задаются вручную, где группа теряет баллы, видно плохо.</a:t>
            </a: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ПРОБЛЕМА</a:t>
            </a:r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484632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25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 sz="1500">
                <a:solidFill>
                  <a:schemeClr val="accent5"/>
                </a:solidFill>
              </a:rPr>
              <a:t>Настройка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814077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 sz="1300">
                <a:solidFill>
                  <a:schemeClr val="tx1"/>
                </a:solidFill>
              </a:rPr>
              <a:t>Преподаватель выбирает сценарии из 96 ситуаций (32 билета) или генерирует новые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 sz="1500">
                <a:solidFill>
                  <a:schemeClr val="accent5"/>
                </a:solidFill>
              </a:rPr>
              <a:t>Подтверждение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814077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 sz="1300">
                <a:solidFill>
                  <a:schemeClr val="tx1"/>
                </a:solidFill>
              </a:rPr>
              <a:t>Преподаватель утверждает карточку и передаёт диспетчеру ДДС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 sz="1500">
                <a:solidFill>
                  <a:schemeClr val="accent5"/>
                </a:solidFill>
              </a:rPr>
              <a:t>Разбор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814077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 sz="1300">
                <a:solidFill>
                  <a:schemeClr val="tx1"/>
                </a:solidFill>
              </a:rPr>
              <a:t>Отчёт, подсказки ИИ, карта ошибок группы; итог оценки за преподавателем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 sz="1500">
                <a:solidFill>
                  <a:schemeClr val="accent5"/>
                </a:solidFill>
              </a:rPr>
              <a:t>Приём вызова 112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5181340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 sz="1300">
                <a:solidFill>
                  <a:schemeClr val="tx1"/>
                </a:solidFill>
              </a:rPr>
              <a:t>Оператор заполняет карточку: адрес, опросная карта ЕКП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 sz="1500">
                <a:solidFill>
                  <a:schemeClr val="accent5"/>
                </a:solidFill>
              </a:rPr>
              <a:t>Отработка ДДС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5181340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 sz="1300">
                <a:solidFill>
                  <a:schemeClr val="tx1"/>
                </a:solidFill>
              </a:rPr>
              <a:t>Полный цикл статусов, нормативы 30 с и 3 мин, софтфон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ЗАМКНУТЫЙ ЦИКЛ ЗАНЯТИЯ</a:t>
            </a: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/>
          <p:nvPr/>
        </p:nvSpPr>
        <p:spPr>
          <a:xfrm>
            <a:off x="346075" y="324562"/>
            <a:ext cx="50292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grpSp>
        <p:nvGrpSpPr>
          <p:cNvPr id="8" name="Group 82">
            <a:extLst>
              <a:ext uri="{FF2B5EF4-FFF2-40B4-BE49-F238E27FC236}">
                <a16:creationId xmlns:a16="http://schemas.microsoft.com/office/drawing/2014/main" id="{24F452BD-B318-4752-95A0-FE784050E11F}"/>
              </a:ext>
            </a:extLst>
          </p:cNvPr>
          <p:cNvGrpSpPr>
            <a:grpSpLocks noChangeAspect="1"/>
          </p:cNvGrpSpPr>
          <p:nvPr/>
        </p:nvGrpSpPr>
        <p:grpSpPr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FD5311CA-A8DA-4752-BCCC-9D77C86DAA8A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>
                <a:extLst>
                  <a:ext uri="{FF2B5EF4-FFF2-40B4-BE49-F238E27FC236}">
                    <a16:creationId xmlns:a16="http://schemas.microsoft.com/office/drawing/2014/main" id="{C5DD9855-9040-4A8E-8FC7-2A87D71D92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1CA962FF-DEAF-450E-BAC9-2CBF039F5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29B32C08-05E5-455D-AB4B-FA780C0B9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5" name="Oval 4">
                <a:extLst>
                  <a:ext uri="{FF2B5EF4-FFF2-40B4-BE49-F238E27FC236}">
                    <a16:creationId xmlns:a16="http://schemas.microsoft.com/office/drawing/2014/main" id="{DB5DCAC2-FF8B-4D8A-8761-EF6BE6B4C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A18062AF-728F-4F67-A9EE-6DA3DC1E6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id="{1F8B8CA3-31B9-4E3E-89F8-B823F31C1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8" name="Rectangle 92">
                <a:extLst>
                  <a:ext uri="{FF2B5EF4-FFF2-40B4-BE49-F238E27FC236}">
                    <a16:creationId xmlns:a16="http://schemas.microsoft.com/office/drawing/2014/main" id="{C40CC64C-4BDE-4B83-ACBA-76BBEC31E3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021FE07F-E9DB-428E-864C-12ABBB046C13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8251ED56-D5C4-4244-B7B8-9CC65D6F8A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ECE11028-B7CA-451E-851D-176871A08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C663966C-C5F6-4AF2-AC81-EF7A040B74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1231452A-2DB6-4628-B13E-989E319678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02B5F533-7190-4486-800E-50B9DEE2EC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E1197ACF-D4F7-4F4F-B51B-31BAB03203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305C916E-AA00-40D3-979E-8385C880D1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606A4951-C43E-4D62-8601-77DAE03DB7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E4DF5AB0-92B8-4555-8BFE-FEB94F35C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C904AC4F-21D6-40FC-874A-C69831B8A24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008AEF74-0CB4-4F9D-941F-B3FDCFD4AC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F43D9F-F201-460A-B5AB-10C4C6323FC9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9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localhost:3130</a:t>
              </a: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773BAD95-B78D-42DD-A801-8B84C3BF5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grpSp>
        <p:nvGrpSpPr>
          <p:cNvPr id="31" name="Group 82">
            <a:extLst>
              <a:ext uri="{FF2B5EF4-FFF2-40B4-BE49-F238E27FC236}">
                <a16:creationId xmlns:a16="http://schemas.microsoft.com/office/drawing/2014/main" id="{476BE634-6695-4A59-B9FD-6815B89BADCA}"/>
              </a:ext>
            </a:extLst>
          </p:cNvPr>
          <p:cNvGrpSpPr>
            <a:grpSpLocks noChangeAspect="1"/>
          </p:cNvGrpSpPr>
          <p:nvPr/>
        </p:nvGrpSpPr>
        <p:grpSpPr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>
              <a:extLst>
                <a:ext uri="{FF2B5EF4-FFF2-40B4-BE49-F238E27FC236}">
                  <a16:creationId xmlns:a16="http://schemas.microsoft.com/office/drawing/2014/main" id="{F753F412-8864-4B46-BFBD-0C8E827679D2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>
                <a:extLst>
                  <a:ext uri="{FF2B5EF4-FFF2-40B4-BE49-F238E27FC236}">
                    <a16:creationId xmlns:a16="http://schemas.microsoft.com/office/drawing/2014/main" id="{48F16F12-B004-4ABE-AAA8-42D597EFD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6" name="Rectangle 2">
                <a:extLst>
                  <a:ext uri="{FF2B5EF4-FFF2-40B4-BE49-F238E27FC236}">
                    <a16:creationId xmlns:a16="http://schemas.microsoft.com/office/drawing/2014/main" id="{92CE4B65-6103-4C38-92A7-2A427C04B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7" name="AutoShape 3">
                <a:extLst>
                  <a:ext uri="{FF2B5EF4-FFF2-40B4-BE49-F238E27FC236}">
                    <a16:creationId xmlns:a16="http://schemas.microsoft.com/office/drawing/2014/main" id="{297699FF-7AA4-40F4-81BC-DF7B89B3F7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8" name="Oval 4">
                <a:extLst>
                  <a:ext uri="{FF2B5EF4-FFF2-40B4-BE49-F238E27FC236}">
                    <a16:creationId xmlns:a16="http://schemas.microsoft.com/office/drawing/2014/main" id="{D68B6E0E-D3C7-4493-A31B-8207DAE9C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9" name="Oval 5">
                <a:extLst>
                  <a:ext uri="{FF2B5EF4-FFF2-40B4-BE49-F238E27FC236}">
                    <a16:creationId xmlns:a16="http://schemas.microsoft.com/office/drawing/2014/main" id="{AA3A8A3A-E81C-4F16-9EA2-9F11A9775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0" name="Oval 6">
                <a:extLst>
                  <a:ext uri="{FF2B5EF4-FFF2-40B4-BE49-F238E27FC236}">
                    <a16:creationId xmlns:a16="http://schemas.microsoft.com/office/drawing/2014/main" id="{539165D2-E0B0-4B91-BDF2-5FF535A72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1" name="Rectangle 92">
                <a:extLst>
                  <a:ext uri="{FF2B5EF4-FFF2-40B4-BE49-F238E27FC236}">
                    <a16:creationId xmlns:a16="http://schemas.microsoft.com/office/drawing/2014/main" id="{B58995FD-774E-443F-8F74-D69C353CA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42" name="Group 93">
                <a:extLst>
                  <a:ext uri="{FF2B5EF4-FFF2-40B4-BE49-F238E27FC236}">
                    <a16:creationId xmlns:a16="http://schemas.microsoft.com/office/drawing/2014/main" id="{022AA45E-1A3D-4A3B-B08F-4D64E6102BF2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2EE8F120-DDD5-495E-8097-10825D0A1E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899F88D3-5C91-4BBA-BE63-9371B4B356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7" name="Freeform 15">
                  <a:extLst>
                    <a:ext uri="{FF2B5EF4-FFF2-40B4-BE49-F238E27FC236}">
                      <a16:creationId xmlns:a16="http://schemas.microsoft.com/office/drawing/2014/main" id="{C1C5DCC2-9B40-4DA3-AB2F-ED9C5D891C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8" name="Freeform 16">
                  <a:extLst>
                    <a:ext uri="{FF2B5EF4-FFF2-40B4-BE49-F238E27FC236}">
                      <a16:creationId xmlns:a16="http://schemas.microsoft.com/office/drawing/2014/main" id="{0721D991-881C-4DBE-AF30-E47AE304B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9" name="Freeform 17">
                  <a:extLst>
                    <a:ext uri="{FF2B5EF4-FFF2-40B4-BE49-F238E27FC236}">
                      <a16:creationId xmlns:a16="http://schemas.microsoft.com/office/drawing/2014/main" id="{97111254-2A6F-40F4-8741-1C703E43B9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0" name="Freeform 18">
                  <a:extLst>
                    <a:ext uri="{FF2B5EF4-FFF2-40B4-BE49-F238E27FC236}">
                      <a16:creationId xmlns:a16="http://schemas.microsoft.com/office/drawing/2014/main" id="{3448ADF5-3363-4495-90EA-D3397EA0A3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1" name="Freeform 19">
                  <a:extLst>
                    <a:ext uri="{FF2B5EF4-FFF2-40B4-BE49-F238E27FC236}">
                      <a16:creationId xmlns:a16="http://schemas.microsoft.com/office/drawing/2014/main" id="{A11FFFD8-A688-46DB-9518-83D23CB9AE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2" name="Freeform 20">
                  <a:extLst>
                    <a:ext uri="{FF2B5EF4-FFF2-40B4-BE49-F238E27FC236}">
                      <a16:creationId xmlns:a16="http://schemas.microsoft.com/office/drawing/2014/main" id="{3B48C2AB-505E-4332-A44A-9D533A6504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3" name="Freeform 21">
                  <a:extLst>
                    <a:ext uri="{FF2B5EF4-FFF2-40B4-BE49-F238E27FC236}">
                      <a16:creationId xmlns:a16="http://schemas.microsoft.com/office/drawing/2014/main" id="{EBFBAB80-64C2-4E27-A1CC-A218E6C356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27106E3B-5EE5-442B-87E5-0B8163B9997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AFFAA0AD-114A-4831-ACE3-B8C4258E3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4BEAEF8-91EF-49C8-A667-2BC7D51C2397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9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localhost:3130</a:t>
              </a: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1C88632E-4E09-404A-9868-C0997FA11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1A900A-8BF5-4238-B577-5FBBE4A75C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1400">
                <a:solidFill>
                  <a:schemeClr val="tx1"/>
                </a:solidFill>
              </a:rPr>
              <a:t>Журнал карточек и таймер: 30 секунд на первичный статус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5CE154-6330-485C-8E80-D5D601B2BA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1400">
                <a:solidFill>
                  <a:schemeClr val="tx1"/>
                </a:solidFill>
              </a:rPr>
              <a:t>Карточка: полный цикл статусов, софтфон и сообщения служб</a:t>
            </a: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B81528B6-CA31-41D3-86C3-327E28EF02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7B188587-A119-4DCD-9E44-87DD8E11DB7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55" name="Заголовок 13">
            <a:extLst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ДЕМО: РАБОТА ДИСПЕТЧЕРА</a:t>
            </a:r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/>
          <p:nvPr/>
        </p:nvSpPr>
        <p:spPr>
          <a:xfrm>
            <a:off x="346075" y="324562"/>
            <a:ext cx="576072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grpSp>
        <p:nvGrpSpPr>
          <p:cNvPr id="8" name="Group 82">
            <a:extLst>
              <a:ext uri="{FF2B5EF4-FFF2-40B4-BE49-F238E27FC236}">
                <a16:creationId xmlns:a16="http://schemas.microsoft.com/office/drawing/2014/main" id="{24F452BD-B318-4752-95A0-FE784050E11F}"/>
              </a:ext>
            </a:extLst>
          </p:cNvPr>
          <p:cNvGrpSpPr>
            <a:grpSpLocks noChangeAspect="1"/>
          </p:cNvGrpSpPr>
          <p:nvPr/>
        </p:nvGrpSpPr>
        <p:grpSpPr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FD5311CA-A8DA-4752-BCCC-9D77C86DAA8A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>
                <a:extLst>
                  <a:ext uri="{FF2B5EF4-FFF2-40B4-BE49-F238E27FC236}">
                    <a16:creationId xmlns:a16="http://schemas.microsoft.com/office/drawing/2014/main" id="{C5DD9855-9040-4A8E-8FC7-2A87D71D92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1CA962FF-DEAF-450E-BAC9-2CBF039F5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29B32C08-05E5-455D-AB4B-FA780C0B9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5" name="Oval 4">
                <a:extLst>
                  <a:ext uri="{FF2B5EF4-FFF2-40B4-BE49-F238E27FC236}">
                    <a16:creationId xmlns:a16="http://schemas.microsoft.com/office/drawing/2014/main" id="{DB5DCAC2-FF8B-4D8A-8761-EF6BE6B4C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A18062AF-728F-4F67-A9EE-6DA3DC1E6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id="{1F8B8CA3-31B9-4E3E-89F8-B823F31C1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8" name="Rectangle 92">
                <a:extLst>
                  <a:ext uri="{FF2B5EF4-FFF2-40B4-BE49-F238E27FC236}">
                    <a16:creationId xmlns:a16="http://schemas.microsoft.com/office/drawing/2014/main" id="{C40CC64C-4BDE-4B83-ACBA-76BBEC31E3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021FE07F-E9DB-428E-864C-12ABBB046C13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8251ED56-D5C4-4244-B7B8-9CC65D6F8A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ECE11028-B7CA-451E-851D-176871A08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C663966C-C5F6-4AF2-AC81-EF7A040B74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1231452A-2DB6-4628-B13E-989E319678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02B5F533-7190-4486-800E-50B9DEE2EC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E1197ACF-D4F7-4F4F-B51B-31BAB03203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305C916E-AA00-40D3-979E-8385C880D1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606A4951-C43E-4D62-8601-77DAE03DB7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E4DF5AB0-92B8-4555-8BFE-FEB94F35C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C904AC4F-21D6-40FC-874A-C69831B8A24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008AEF74-0CB4-4F9D-941F-B3FDCFD4AC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F43D9F-F201-460A-B5AB-10C4C6323FC9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9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localhost:3130</a:t>
              </a: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773BAD95-B78D-42DD-A801-8B84C3BF5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grpSp>
        <p:nvGrpSpPr>
          <p:cNvPr id="31" name="Group 82">
            <a:extLst>
              <a:ext uri="{FF2B5EF4-FFF2-40B4-BE49-F238E27FC236}">
                <a16:creationId xmlns:a16="http://schemas.microsoft.com/office/drawing/2014/main" id="{476BE634-6695-4A59-B9FD-6815B89BADCA}"/>
              </a:ext>
            </a:extLst>
          </p:cNvPr>
          <p:cNvGrpSpPr>
            <a:grpSpLocks noChangeAspect="1"/>
          </p:cNvGrpSpPr>
          <p:nvPr/>
        </p:nvGrpSpPr>
        <p:grpSpPr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>
              <a:extLst>
                <a:ext uri="{FF2B5EF4-FFF2-40B4-BE49-F238E27FC236}">
                  <a16:creationId xmlns:a16="http://schemas.microsoft.com/office/drawing/2014/main" id="{F753F412-8864-4B46-BFBD-0C8E827679D2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>
                <a:extLst>
                  <a:ext uri="{FF2B5EF4-FFF2-40B4-BE49-F238E27FC236}">
                    <a16:creationId xmlns:a16="http://schemas.microsoft.com/office/drawing/2014/main" id="{48F16F12-B004-4ABE-AAA8-42D597EFD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6" name="Rectangle 2">
                <a:extLst>
                  <a:ext uri="{FF2B5EF4-FFF2-40B4-BE49-F238E27FC236}">
                    <a16:creationId xmlns:a16="http://schemas.microsoft.com/office/drawing/2014/main" id="{92CE4B65-6103-4C38-92A7-2A427C04B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7" name="AutoShape 3">
                <a:extLst>
                  <a:ext uri="{FF2B5EF4-FFF2-40B4-BE49-F238E27FC236}">
                    <a16:creationId xmlns:a16="http://schemas.microsoft.com/office/drawing/2014/main" id="{297699FF-7AA4-40F4-81BC-DF7B89B3F7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8" name="Oval 4">
                <a:extLst>
                  <a:ext uri="{FF2B5EF4-FFF2-40B4-BE49-F238E27FC236}">
                    <a16:creationId xmlns:a16="http://schemas.microsoft.com/office/drawing/2014/main" id="{D68B6E0E-D3C7-4493-A31B-8207DAE9C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9" name="Oval 5">
                <a:extLst>
                  <a:ext uri="{FF2B5EF4-FFF2-40B4-BE49-F238E27FC236}">
                    <a16:creationId xmlns:a16="http://schemas.microsoft.com/office/drawing/2014/main" id="{AA3A8A3A-E81C-4F16-9EA2-9F11A9775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0" name="Oval 6">
                <a:extLst>
                  <a:ext uri="{FF2B5EF4-FFF2-40B4-BE49-F238E27FC236}">
                    <a16:creationId xmlns:a16="http://schemas.microsoft.com/office/drawing/2014/main" id="{539165D2-E0B0-4B91-BDF2-5FF535A72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1" name="Rectangle 92">
                <a:extLst>
                  <a:ext uri="{FF2B5EF4-FFF2-40B4-BE49-F238E27FC236}">
                    <a16:creationId xmlns:a16="http://schemas.microsoft.com/office/drawing/2014/main" id="{B58995FD-774E-443F-8F74-D69C353CA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42" name="Group 93">
                <a:extLst>
                  <a:ext uri="{FF2B5EF4-FFF2-40B4-BE49-F238E27FC236}">
                    <a16:creationId xmlns:a16="http://schemas.microsoft.com/office/drawing/2014/main" id="{022AA45E-1A3D-4A3B-B08F-4D64E6102BF2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2EE8F120-DDD5-495E-8097-10825D0A1E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899F88D3-5C91-4BBA-BE63-9371B4B356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7" name="Freeform 15">
                  <a:extLst>
                    <a:ext uri="{FF2B5EF4-FFF2-40B4-BE49-F238E27FC236}">
                      <a16:creationId xmlns:a16="http://schemas.microsoft.com/office/drawing/2014/main" id="{C1C5DCC2-9B40-4DA3-AB2F-ED9C5D891C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8" name="Freeform 16">
                  <a:extLst>
                    <a:ext uri="{FF2B5EF4-FFF2-40B4-BE49-F238E27FC236}">
                      <a16:creationId xmlns:a16="http://schemas.microsoft.com/office/drawing/2014/main" id="{0721D991-881C-4DBE-AF30-E47AE304B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9" name="Freeform 17">
                  <a:extLst>
                    <a:ext uri="{FF2B5EF4-FFF2-40B4-BE49-F238E27FC236}">
                      <a16:creationId xmlns:a16="http://schemas.microsoft.com/office/drawing/2014/main" id="{97111254-2A6F-40F4-8741-1C703E43B9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0" name="Freeform 18">
                  <a:extLst>
                    <a:ext uri="{FF2B5EF4-FFF2-40B4-BE49-F238E27FC236}">
                      <a16:creationId xmlns:a16="http://schemas.microsoft.com/office/drawing/2014/main" id="{3448ADF5-3363-4495-90EA-D3397EA0A3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1" name="Freeform 19">
                  <a:extLst>
                    <a:ext uri="{FF2B5EF4-FFF2-40B4-BE49-F238E27FC236}">
                      <a16:creationId xmlns:a16="http://schemas.microsoft.com/office/drawing/2014/main" id="{A11FFFD8-A688-46DB-9518-83D23CB9AE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2" name="Freeform 20">
                  <a:extLst>
                    <a:ext uri="{FF2B5EF4-FFF2-40B4-BE49-F238E27FC236}">
                      <a16:creationId xmlns:a16="http://schemas.microsoft.com/office/drawing/2014/main" id="{3B48C2AB-505E-4332-A44A-9D533A6504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3" name="Freeform 21">
                  <a:extLst>
                    <a:ext uri="{FF2B5EF4-FFF2-40B4-BE49-F238E27FC236}">
                      <a16:creationId xmlns:a16="http://schemas.microsoft.com/office/drawing/2014/main" id="{EBFBAB80-64C2-4E27-A1CC-A218E6C356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27106E3B-5EE5-442B-87E5-0B8163B9997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AFFAA0AD-114A-4831-ACE3-B8C4258E3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4BEAEF8-91EF-49C8-A667-2BC7D51C2397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9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localhost:3130</a:t>
              </a: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1C88632E-4E09-404A-9868-C0997FA11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1A900A-8BF5-4238-B577-5FBBE4A75C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1400">
                <a:solidFill>
                  <a:schemeClr val="tx1"/>
                </a:solidFill>
              </a:rPr>
              <a:t>Монитор занятия: лента действий обучающихся в реальном времени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5CE154-6330-485C-8E80-D5D601B2BA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1400">
                <a:solidFill>
                  <a:schemeClr val="tx1"/>
                </a:solidFill>
              </a:rPr>
              <a:t>Карта ошибок группы: светофор по этапам и пояснение ИИ (демо-данные)</a:t>
            </a: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B81528B6-CA31-41D3-86C3-327E28EF02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7B188587-A119-4DCD-9E44-87DD8E11DB7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55" name="Заголовок 13">
            <a:extLst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ДЕМО: КАБИНЕТ ПРЕПОДАВАТЕЛЯ</a:t>
            </a:r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Microsoft Office User</cp:lastModifiedBy>
  <cp:revision>95</cp:revision>
  <dcterms:created xsi:type="dcterms:W3CDTF">2023-05-15T07:36:23Z</dcterms:created>
  <dcterms:modified xsi:type="dcterms:W3CDTF">2026-09-14T11:14:59Z</dcterms:modified>
</cp:coreProperties>
</file>