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3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267" r:id="rId26"/>
    <p:sldId id="270" r:id="rId28"/>
    <p:sldId id="376" r:id="rId45"/>
    <p:sldId id="371" r:id="rId17"/>
    <p:sldId id="374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пятеро, контакты на слайде. (5 сек)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Историю команды (слайд 10) нужно сверить с реальностью: текст про знакомство придуман как черновик. (15 сек история, 15 сек почему задача, 25 сек вызовы)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Мы команда MISIS&amp;MR.DRUN, проект Responders Academy: тренажёр АРМ-112 для диспетчеров ДДС. (5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сделали тренажёр, где диспетчер тренируется на копии АРМ-112 в изолированном контуре, а преподаватель видит, где именно группа ошибается. Чем отличаемся от макета: копия интерфейса плюс управление занятием плюс карта ошибок. (25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Техника: без GPU, без интернета, запуск одной командой. Облачный ИИ по умолчанию выключен; опциональный внешний провайдер включается только переменной окружения и получает лишь синтетические сценарии. Маркетинг: это гипотезы, цифр рынка и эффекта у нас нет. (35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Q&amp;A с заказчиком от 16.09.2026, это слова заказчика, не наша статистика. Статистики ошибок у нас нет.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Цикл замкнут: настроили, отработали, увидели ошибки группы. Три роли: обучающийся, преподаватель, администратор. Зачем два режима: цепочка 112 → ДДС, карточку оператора подтверждает преподаватель и отправляет диспетчеру.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вживую или запасным видео (docs/demo.mp4 не записан, записать заранее). Журнал, 30 секунд на первичный статус, цикл статусов, софтфон. Софтфон не по SIP: UI-эмуляция с транскриптами, как согласовано с заказчиком. (35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Преподаватель видит всё в реальном времени. Карта ошибок: светофор по этапам, ИИ объясняет почему, преподаватель соглашается или нет. Решение за ним. Подписать «демо-данные». (30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цифры из репозитория: docs/model-report/README.md (точность 83,6 % Q4 на закрытой выборке 110 примеров, ≈4–5 с на ответ на CPU машины разработчика), mocks/cards.json (96 ситуаций). Метрики ИИ подавать как подсказку, а не как оценку. (20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Нам нужен пилот в УМЦ, чтобы получить данные и методику. Сроков без пилота не обещаем, цифр эффекта у нас нет: говорим «позволяет измерить». (20 сек)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6.jpg"/><Relationship Id="rId5" Type="http://schemas.openxmlformats.org/officeDocument/2006/relationships/image" Target="../media/image827.jpg"/><Relationship Id="rId6" Type="http://schemas.openxmlformats.org/officeDocument/2006/relationships/image" Target="../media/image828.jpg"/><Relationship Id="rId7" Type="http://schemas.openxmlformats.org/officeDocument/2006/relationships/image" Target="../media/image829.jpg"/><Relationship Id="rId8" Type="http://schemas.openxmlformats.org/officeDocument/2006/relationships/image" Target="../media/image8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RESPONDERS ACADEMY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0" marL="0">
              <a:buNone/>
            </a:pPr>
            <a:r>
              <a:rPr lang="ru-RU" sz="1800"/>
              <a:t>Тренажёр АРМ-112 для диспетчеров ДДС Москвы</a:t>
            </a:r>
          </a:p>
          <a:p>
            <a:pPr indent="0" marL="0">
              <a:buNone/>
            </a:pPr>
            <a:r>
              <a:rPr lang="ru-RU" sz="1800"/>
              <a:t>Команда MISIS&amp;MR.DRUN  ·  задача № 9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6" y="466961"/>
            <a:ext cx="4754880" cy="72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46320"/>
            <a:ext cx="4945565" cy="14630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Интерфейс 1:1 с боевым АРМ-112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ИИ работает локально: без интернета и видеокарты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Карта ошибок группы для преподавателя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Команда: </a:t>
            </a:r>
            <a:r>
              <a:rPr lang="ru-RU" dirty="0" sz="1300">
                <a:solidFill>
                  <a:schemeClr val="tx1"/>
                </a:solidFill>
              </a:rPr>
              <a:t>MISIS&amp;MR.DRUN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Капитан: </a:t>
            </a:r>
            <a:r>
              <a:rPr lang="ru-RU" dirty="0" sz="1300">
                <a:solidFill>
                  <a:schemeClr val="tx1"/>
                </a:solidFill>
              </a:rPr>
              <a:t>Алексеев Всеволод, full stack и AI engineer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Участников: </a:t>
            </a:r>
            <a:r>
              <a:rPr lang="ru-RU" dirty="0" sz="1300">
                <a:solidFill>
                  <a:schemeClr val="tx1"/>
                </a:solidFill>
              </a:rPr>
              <a:t>5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Кто мы: </a:t>
            </a:r>
            <a:r>
              <a:rPr lang="ru-RU" dirty="0" sz="1300">
                <a:solidFill>
                  <a:schemeClr val="tx1"/>
                </a:solidFill>
              </a:rPr>
              <a:t>активные и амбициозные, собрались по знакомству, работаем на одной волне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Учёба: </a:t>
            </a:r>
            <a:r>
              <a:rPr lang="ru-RU" dirty="0" sz="1300">
                <a:solidFill>
                  <a:schemeClr val="tx1"/>
                </a:solidFill>
              </a:rPr>
              <a:t>НИТУ МИСИС, Физтех-лицей им. Капицы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300">
                <a:solidFill>
                  <a:schemeClr val="tx1"/>
                </a:solidFill>
              </a:rPr>
              <a:t>Город: </a:t>
            </a:r>
            <a:r>
              <a:rPr lang="ru-RU" dirty="0" sz="130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b="1" sz="2800">
                <a:solidFill>
                  <a:schemeClr val="accent5"/>
                </a:solidFill>
              </a:rPr>
              <a:t>О РЕШЕНИИ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300">
                <a:solidFill>
                  <a:schemeClr val="tx1"/>
                </a:solidFill>
              </a:rPr>
              <a:t>Учебный эмулятор АРМ-112: преподаватель настраивает занятие, диспетчер отрабатывает карточки, группа получает отчёт и карту ошибок.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Backend и ML engineer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@sbnmklop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+7 917 274-75-17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НИТУ МИСИС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Хасянов Амир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Full stack и аналитик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@aleksander8_0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+7 960 300-02-16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Физтех-лицей им. П. Л. Капицы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Янеев Александр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Full stack и дизайнер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@EeyuhVVV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+7 952 024-20-62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НИТУ МИСИС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Яров Иван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Frontend и дизайнер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@mr_melov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+7 985 511-39-58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НИТУ МИСИС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Ткаченко Никита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КОМАНДА MISIS&amp;MR.DRUN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Капитан, full stack и AI engineer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@Sovochca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+7 953 012-20-88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НИТУ МИСИС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chemeClr val="accent5"/>
                </a:solidFill>
              </a:rPr>
              <a:t>Алексеев Всеволод</a:t>
            </a:r>
          </a:p>
        </p:txBody>
      </p:sp>
      <p:pic>
        <p:nvPicPr>
          <p:cNvPr id="68" name="Picture 67" descr="photo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97" y="1816054"/>
            <a:ext cx="1722566" cy="1552901"/>
          </a:xfrm>
          <a:prstGeom prst="rect">
            <a:avLst/>
          </a:prstGeom>
        </p:spPr>
      </p:pic>
      <p:pic>
        <p:nvPicPr>
          <p:cNvPr id="69" name="Picture 68" descr="photo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467" y="1826554"/>
            <a:ext cx="1722566" cy="1542401"/>
          </a:xfrm>
          <a:prstGeom prst="rect">
            <a:avLst/>
          </a:prstGeom>
        </p:spPr>
      </p:pic>
      <p:pic>
        <p:nvPicPr>
          <p:cNvPr id="70" name="Picture 69" descr="photo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784" y="1809238"/>
            <a:ext cx="1722567" cy="1559717"/>
          </a:xfrm>
          <a:prstGeom prst="rect">
            <a:avLst/>
          </a:prstGeom>
        </p:spPr>
      </p:pic>
      <p:pic>
        <p:nvPicPr>
          <p:cNvPr id="71" name="Picture 70" descr="photo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208" y="1809238"/>
            <a:ext cx="1722567" cy="1559717"/>
          </a:xfrm>
          <a:prstGeom prst="rect">
            <a:avLst/>
          </a:prstGeom>
        </p:spPr>
      </p:pic>
      <p:pic>
        <p:nvPicPr>
          <p:cNvPr id="72" name="Picture 71" descr="photo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2422" y="1809238"/>
            <a:ext cx="1722566" cy="155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66751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ИСТОРИЯ КОМАНДЫ, ЗАДАЧА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554480"/>
            <a:ext cx="10241280" cy="10972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500">
                <a:solidFill>
                  <a:schemeClr val="tx1"/>
                </a:solidFill>
              </a:rPr>
              <a:t>Мы учимся в НИТУ МИСИС и в Физтех-лицее им. Капицы, живём в Москве. Познакомились лично и быстро поняли, что мыслим в одном ритме и хотим делать амбициозные проекты. Собрались, чтобы за хакатон довести идею до работающего прототипа.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846320"/>
            <a:ext cx="10241280" cy="15544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Точная копия АРМ-112 без доступа к боевой системе, по скриншотам и памятке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Слабое железо: ИИ только локальный (модель 0,8B, 542 МБ, CPU, без интернета)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Один строгий дизайн симулятора: свободы творчества нет, всё как в программе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Нет официальной методики оценки: веса задаёт преподаватель, итог за ним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10241280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Сложности и вызовы: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291840"/>
            <a:ext cx="10241280" cy="10972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500">
                <a:solidFill>
                  <a:schemeClr val="tx1"/>
                </a:solidFill>
              </a:rPr>
              <a:t>Задача нишевая: готовых тренажёров АРМ-112 мы в открытых источниках не нашли. Цена ошибки высокая: одна неверная буква в адресе отправляет бригаду не туда. А нам важна точность, а не красивая обёртка.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10241280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accent5"/>
                </a:solidFill>
              </a:rPr>
              <a:t>Почему выбрали эту задачу: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Фронт: Next.js и TypeScript; бэкенд: FastAPI, SQLite</a:t>
            </a:r>
          </a:p>
          <a:p>
            <a:r>
              <a:rPr lang="ru-RU" sz="1500" dirty="0">
                <a:solidFill>
                  <a:schemeClr val="tx1"/>
                </a:solidFill>
              </a:rPr>
              <a:t>ИИ локально: Qwen3.5-0.8B (llama.cpp, CPU, 542 МБ), запасной режим по правилам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Справочник ЕКП (1283 записи), оценка по правилам, ИИ только рекомендует</a:t>
            </a:r>
          </a:p>
          <a:p>
            <a:r>
              <a:rPr lang="ru-RU" sz="1500" dirty="0">
                <a:solidFill>
                  <a:schemeClr val="tx1"/>
                </a:solidFill>
              </a:rPr>
              <a:t>Закрытый контур: без внешних API и CDN, синтетические данные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Стенд поднимается одной командой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Кому: УМЦ ГО и ЧС, центры Системы-112 и ЕДДС регионов</a:t>
            </a:r>
          </a:p>
          <a:p>
            <a:r>
              <a:rPr lang="ru-RU" sz="1500" dirty="0">
                <a:solidFill>
                  <a:schemeClr val="tx1"/>
                </a:solidFill>
              </a:rPr>
              <a:t>Ценность: безопасная практика до выхода на смену и измеримый разбор ошибок для преподавателя</a:t>
            </a:r>
          </a:p>
          <a:p>
            <a:r>
              <a:rPr lang="ru-RU" sz="1500" dirty="0">
                <a:solidFill>
                  <a:schemeClr val="tx1"/>
                </a:solidFill>
              </a:rPr>
              <a:t>Модель: внедрение в закрытом контуре заказчика, лицензия и поддержка</a:t>
            </a:r>
          </a:p>
          <a:p>
            <a:r>
              <a:rPr lang="ru-RU" sz="1500" dirty="0">
                <a:solidFill>
                  <a:schemeClr val="tx1"/>
                </a:solidFill>
              </a:rPr>
              <a:t>Отличие: интерфейс 1:1, работа офлайн, прозрачный ИИ</a:t>
            </a:r>
          </a:p>
          <a:p>
            <a:r>
              <a:rPr lang="ru-RU" sz="1500" dirty="0">
                <a:solidFill>
                  <a:schemeClr val="tx1"/>
                </a:solidFill>
              </a:rPr>
              <a:t>Спрос и эффект проверим в пилоте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accent5"/>
                </a:solidFill>
              </a:rPr>
              <a:t>Маркетинговая суть (гипотезы)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63093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96 ситуаций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32 билета из материалов заказчика: эталонные сценарии занятий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542 МБ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Модель ИИ Qwen3.5-0.8B (Q4): работает на CPU, без видеокарты и интернета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83,6 %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Точность вердикта модели на 110 примерах; около 1 из 5 ошибок пропускает, поэтому ИИ только советует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30 с / 3 мин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tx1"/>
                </a:solidFill>
              </a:rPr>
              <a:t>Нормативы реакции и полной отработки: контролируются таймерами симулятора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ЦИФРЫ, КОТОРЫЕ МОЖНО ПРОВЕРИТЬ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Пилот в УМЦ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2–3 преподавателя, замер времени реакции и доли пропущенных пунктов карточки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Методика оценки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Подключить официальные методики и веса, согласовать их с заказчиком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accent5"/>
                </a:solidFill>
              </a:rPr>
              <a:t>Дообучение 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Улучшать модель на разметке преподавателей, проверять качество на реальных занятиях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b="1" sz="2400">
                <a:solidFill>
                  <a:schemeClr val="accent5"/>
                </a:solidFill>
              </a:rPr>
              <a:t>ПЛАНЫ РАЗВИТИЯ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30 секунд и 3 минуты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Диспетчер должен среагировать на новую карточку за 30 секунд и отработать её за 3 минуты (норматив).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Учиться негде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Практика идёт на действующей системе. Одна буква в адресе («Дубнинская» вместо «Дубининская») отправляет бригаду не туда.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800">
                <a:solidFill>
                  <a:schemeClr val="tx1"/>
                </a:solidFill>
              </a:rPr>
              <a:t>Нет общей картины</a:t>
            </a:r>
          </a:p>
          <a:p>
            <a:pPr marL="0" indent="0">
              <a:buNone/>
            </a:pPr>
            <a:r>
              <a:rPr lang="ru-RU" sz="1800">
                <a:solidFill>
                  <a:schemeClr val="tx1"/>
                </a:solidFill>
              </a:rPr>
              <a:t>У преподавателя нет единого рабочего места: вводные задаются вручную, где группа теряет баллы, видно плохо.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48463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Настройка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Преподаватель выбирает сценарии из 96 ситуаций (32 билета) или генерирует новые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Подтверждение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Преподаватель утверждает карточку и передаёт диспетчеру ДДС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Разбор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Отчёт, подсказки ИИ, карта ошибок группы; итог оценки за преподавателем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Приём вызова 112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Оператор заполняет карточку: адрес, опросная карта ЕКП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500">
                <a:solidFill>
                  <a:schemeClr val="accent5"/>
                </a:solidFill>
              </a:rPr>
              <a:t>Отработка ДДС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300">
                <a:solidFill>
                  <a:schemeClr val="tx1"/>
                </a:solidFill>
              </a:rPr>
              <a:t>Полный цикл статусов, нормативы 30 с и 3 мин, софтфон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ЗАМКНУТЫЙ ЦИКЛ ЗАНЯТИЯ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50292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Журнал карточек и таймер: 30 секунд на первичный статус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Карточка: полный цикл статусов, софтфон и сообщения служб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ДЕМО: РАБОТА ДИСПЕТЧЕРА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57607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9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localhost:3130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Монитор занятия: лента действий обучающихся в реальном времени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chemeClr val="tx1"/>
                </a:solidFill>
              </a:rPr>
              <a:t>Карта ошибок группы: светофор по этапам и пояснение ИИ (демо-данные)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ДЕМО: КАБИНЕТ ПРЕПОДАВАТЕЛЯ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